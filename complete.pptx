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1" r:id="rId4"/>
    <p:sldId id="268" r:id="rId5"/>
    <p:sldId id="272" r:id="rId6"/>
    <p:sldId id="269" r:id="rId7"/>
    <p:sldId id="273" r:id="rId8"/>
    <p:sldId id="259" r:id="rId9"/>
    <p:sldId id="274" r:id="rId10"/>
    <p:sldId id="260" r:id="rId11"/>
    <p:sldId id="264" r:id="rId12"/>
    <p:sldId id="270" r:id="rId13"/>
    <p:sldId id="276" r:id="rId14"/>
    <p:sldId id="275" r:id="rId15"/>
    <p:sldId id="26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070"/>
    <a:srgbClr val="005392"/>
    <a:srgbClr val="2B32B7"/>
    <a:srgbClr val="0F35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D2D1B-B4E5-B2C4-FC2B-AAAF76A746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D527A8-61F9-5DE6-78E0-0AFF7545D9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18108-C8B2-2318-DA49-C3C5C0E08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E268-1EBC-4BF6-BA14-69E791BE0A0E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1E02CC-4492-C9AF-6EBE-9CB2AAE31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90558-5275-7021-BC79-80B9F3EA4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7AE0C-40FD-4346-B466-85AC80C97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5316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758E2-06A0-E80D-3EB8-8C957B704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6D7B8-CBEA-1BF4-2DD0-00B6AC8C8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FF3059-811C-B3FC-8633-35CBE16AD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E268-1EBC-4BF6-BA14-69E791BE0A0E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0AEE1E-E4E0-FA93-FD20-DE75A5A146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8F253-DC15-5FC7-12B6-30EEC2799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7AE0C-40FD-4346-B466-85AC80C97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4308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90C6D-B635-6F73-4105-32C91C16D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BA4B4-ACB7-F341-81FF-4D49543F1F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B89891-C05F-4874-22B5-DE7CDAF8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E268-1EBC-4BF6-BA14-69E791BE0A0E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130C3-BB33-8463-5731-4CAC401FE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512A87-522B-4BCE-7ABB-021FBF96A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7AE0C-40FD-4346-B466-85AC80C97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52318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29551-D806-E112-A304-AFF2F0255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63F4B-938F-D4E3-A5BE-1CE7055E98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C0EABB-1184-7757-E6A6-157FE4AFB8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E7E726-6DA0-51E2-290F-80561F04D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E268-1EBC-4BF6-BA14-69E791BE0A0E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2301F2-8644-0021-D8FC-AE7088BD6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1F5B81-FE4B-A4DA-AB8F-78093BDEB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7AE0C-40FD-4346-B466-85AC80C97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6003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B7FF7-6D14-E3E1-B5D6-9F1D283A5D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5F9B6-7AE5-86EC-2073-BA1D54624E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E20C38-8870-B682-9430-DB91487433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DE57A5-886C-3682-6E19-F68AFC3D09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317F62-56EC-FF17-1EAF-71077D99ED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C3C047-15B1-72BD-E854-5853BE289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E268-1EBC-4BF6-BA14-69E791BE0A0E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833E67-5103-AA97-7AFF-BB373928F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39FF06-5C20-B735-41CE-5714BCBFE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7AE0C-40FD-4346-B466-85AC80C97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30173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7A56B-36FF-D5CA-5171-766BFDF6E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CF6921-CDA3-0545-FAB1-0CB444003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E268-1EBC-4BF6-BA14-69E791BE0A0E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1F12C3-A5F8-6D52-9A70-D22CB20CF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0C88E4-2944-F0CF-3EEC-C7AA1DC82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7AE0C-40FD-4346-B466-85AC80C97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0386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7E0458-C4FA-C724-261F-7C5A87BC8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E268-1EBC-4BF6-BA14-69E791BE0A0E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1617E2-5F91-B332-97B4-CCDFC9EFC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E02496-A09C-E8D4-3BF5-930E05671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7AE0C-40FD-4346-B466-85AC80C97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4514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C7511-6BB0-493E-5015-3769AD28A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10DEF-4130-339F-9153-C178939AEC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4D2481-A223-F42F-7ABE-FF9E8DE5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9E39BD-A088-9F62-07B5-2EEFF7803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E268-1EBC-4BF6-BA14-69E791BE0A0E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05A3A1-A5BA-2B2A-5DDC-B2F6B360A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E4ECF3-0B5C-FBCA-81CC-A583C6CBF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7AE0C-40FD-4346-B466-85AC80C97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1742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045C1-898C-5E24-C893-24E64D7BA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FC0278-5A92-2CE9-6BCA-0D11EDD9B2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92103A-1AC2-592B-9F52-C65C6B53FD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8529BE-4ADF-A6C5-B3B5-021FF64FE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E268-1EBC-4BF6-BA14-69E791BE0A0E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A91C65-E708-C45F-1CBD-9D5A21ACB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574D2B-EF0E-5FFD-F476-4C37A593D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7AE0C-40FD-4346-B466-85AC80C97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290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3341-1F4B-F348-9C6C-3E755140E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A207C1-0EA6-E40C-17F6-1BFC29DF38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F5641D-A2C5-1814-566E-05B9186BE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E268-1EBC-4BF6-BA14-69E791BE0A0E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49D9DE-FFBE-54B7-0BD4-D0074323F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CF619F-A200-ED83-EE6C-EC80BCBA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7AE0C-40FD-4346-B466-85AC80C97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58927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C1B33E7-44A8-B3DD-AD5F-82119ED397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961C1C-8F8C-24C6-FB58-4AF89D0F7F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E4AD1-E81A-58BE-689E-7AA0748D8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3E268-1EBC-4BF6-BA14-69E791BE0A0E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076E0E-0876-DAE8-1F28-6C73AC559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3AA13A-8184-57D4-661D-137D8BA6C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7AE0C-40FD-4346-B466-85AC80C97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346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AAFB59-6D95-2892-8ABE-7BA5427F7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1A8582-EA07-FAE2-99E2-60AA7AFF5A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A7384-A5FF-9423-8DFF-1B229FE981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23E268-1EBC-4BF6-BA14-69E791BE0A0E}" type="datetimeFigureOut">
              <a:rPr lang="en-IN" smtClean="0"/>
              <a:t>16-02-2026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6C2880-FB9B-1AEF-06C8-620744B985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9E80F-42B7-3DCB-E5C6-662B20D9E6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27AE0C-40FD-4346-B466-85AC80C9740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5314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0">
              <a:srgbClr val="002060"/>
            </a:gs>
            <a:gs pos="100000">
              <a:srgbClr val="00539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FB670-8912-D4D1-6AA1-AA0A7DAAB6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9204" y="868362"/>
            <a:ext cx="10373591" cy="2387600"/>
          </a:xfrm>
          <a:noFill/>
        </p:spPr>
        <p:txBody>
          <a:bodyPr>
            <a:normAutofit/>
          </a:bodyPr>
          <a:lstStyle/>
          <a:p>
            <a:r>
              <a:rPr lang="en-IN" b="1" dirty="0" err="1">
                <a:solidFill>
                  <a:schemeClr val="bg1"/>
                </a:solidFill>
              </a:rPr>
              <a:t>Pykv</a:t>
            </a:r>
            <a:r>
              <a:rPr lang="en-IN" b="1" dirty="0">
                <a:solidFill>
                  <a:schemeClr val="bg1"/>
                </a:solidFill>
              </a:rPr>
              <a:t> : A Scalable Key-Value Memory Store with Persistence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BFE81C-F0E0-4173-F61B-C93ACCE1CDB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endParaRPr lang="en-US" sz="2800" b="1" dirty="0">
              <a:solidFill>
                <a:schemeClr val="bg1"/>
              </a:solidFill>
            </a:endParaRPr>
          </a:p>
          <a:p>
            <a:r>
              <a:rPr lang="en-IN" b="1" dirty="0">
                <a:solidFill>
                  <a:schemeClr val="bg1"/>
                </a:solidFill>
              </a:rPr>
              <a:t>Team B</a:t>
            </a:r>
          </a:p>
          <a:p>
            <a:r>
              <a:rPr lang="en-IN" sz="1400" b="1" dirty="0">
                <a:solidFill>
                  <a:schemeClr val="bg1"/>
                </a:solidFill>
              </a:rPr>
              <a:t>by</a:t>
            </a:r>
          </a:p>
          <a:p>
            <a:r>
              <a:rPr lang="en-IN" sz="2000" b="1" dirty="0">
                <a:solidFill>
                  <a:schemeClr val="bg1"/>
                </a:solidFill>
              </a:rPr>
              <a:t>Venkatesh              </a:t>
            </a:r>
          </a:p>
          <a:p>
            <a:r>
              <a:rPr lang="en-IN" sz="2000" b="1" dirty="0">
                <a:solidFill>
                  <a:schemeClr val="bg1"/>
                </a:solidFill>
              </a:rPr>
              <a:t>M Sai T</a:t>
            </a:r>
          </a:p>
          <a:p>
            <a:r>
              <a:rPr lang="en-IN" sz="2000" b="1" dirty="0">
                <a:solidFill>
                  <a:schemeClr val="bg1"/>
                </a:solidFill>
              </a:rPr>
              <a:t>Srija </a:t>
            </a:r>
            <a:r>
              <a:rPr lang="en-IN" sz="2000" b="1" dirty="0" err="1">
                <a:solidFill>
                  <a:schemeClr val="bg1"/>
                </a:solidFill>
              </a:rPr>
              <a:t>Budata</a:t>
            </a:r>
            <a:endParaRPr lang="en-IN" sz="2000" b="1" dirty="0">
              <a:solidFill>
                <a:schemeClr val="bg1"/>
              </a:solidFill>
            </a:endParaRPr>
          </a:p>
          <a:p>
            <a:r>
              <a:rPr lang="en-IN" sz="2000" b="1" dirty="0">
                <a:solidFill>
                  <a:schemeClr val="bg1"/>
                </a:solidFill>
              </a:rPr>
              <a:t>Harini </a:t>
            </a:r>
          </a:p>
          <a:p>
            <a:r>
              <a:rPr lang="en-IN" sz="2000" b="1" dirty="0">
                <a:solidFill>
                  <a:schemeClr val="bg1"/>
                </a:solidFill>
              </a:rPr>
              <a:t>Siddhesh </a:t>
            </a:r>
            <a:r>
              <a:rPr lang="en-IN" sz="2000" b="1" dirty="0" err="1">
                <a:solidFill>
                  <a:schemeClr val="bg1"/>
                </a:solidFill>
              </a:rPr>
              <a:t>pitale</a:t>
            </a:r>
            <a:endParaRPr lang="en-IN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8066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48A9E-F4EB-BB00-0B4D-ACE45A38C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00B0F0"/>
                </a:solidFill>
              </a:rPr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F65C96-8FCA-D0EF-C501-3A52B242A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0770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dirty="0">
                <a:solidFill>
                  <a:schemeClr val="bg1"/>
                </a:solidFill>
              </a:rPr>
              <a:t>Python is a robust python based storage system designed for modern applications requiring high-speed data access</a:t>
            </a:r>
          </a:p>
          <a:p>
            <a:pPr marL="0" indent="0">
              <a:buNone/>
            </a:pPr>
            <a:endParaRPr lang="en-IN" dirty="0">
              <a:solidFill>
                <a:schemeClr val="bg1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IN" b="1" dirty="0">
                <a:solidFill>
                  <a:schemeClr val="bg1"/>
                </a:solidFill>
              </a:rPr>
              <a:t>In-Memory Speed: </a:t>
            </a:r>
            <a:r>
              <a:rPr lang="en-IN" dirty="0">
                <a:solidFill>
                  <a:schemeClr val="bg1"/>
                </a:solidFill>
              </a:rPr>
              <a:t>Stores data in RAM for ultra-fast Read/Write operations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b="1" dirty="0">
                <a:solidFill>
                  <a:schemeClr val="bg1"/>
                </a:solidFill>
              </a:rPr>
              <a:t>Persistence: </a:t>
            </a:r>
            <a:r>
              <a:rPr lang="en-IN" dirty="0">
                <a:solidFill>
                  <a:schemeClr val="bg1"/>
                </a:solidFill>
              </a:rPr>
              <a:t>Automatically saves volatile data to disk to ensures reliability after restarts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b="1" dirty="0">
                <a:solidFill>
                  <a:schemeClr val="bg1"/>
                </a:solidFill>
              </a:rPr>
              <a:t>Modular Design: </a:t>
            </a:r>
            <a:r>
              <a:rPr lang="en-IN" dirty="0">
                <a:solidFill>
                  <a:schemeClr val="bg1"/>
                </a:solidFill>
              </a:rPr>
              <a:t>Bulit with distinct components for easy maintenance and future scalability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IN" b="1" dirty="0">
                <a:solidFill>
                  <a:schemeClr val="bg1"/>
                </a:solidFill>
              </a:rPr>
              <a:t>Key-Value Model: </a:t>
            </a:r>
            <a:r>
              <a:rPr lang="en-IN" dirty="0">
                <a:solidFill>
                  <a:schemeClr val="bg1"/>
                </a:solidFill>
              </a:rPr>
              <a:t>Simple and efficient data structure for </a:t>
            </a:r>
            <a:r>
              <a:rPr lang="en-IN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O(1)</a:t>
            </a:r>
            <a:r>
              <a:rPr lang="en-IN" dirty="0">
                <a:solidFill>
                  <a:schemeClr val="bg1"/>
                </a:solidFill>
              </a:rPr>
              <a:t> access time</a:t>
            </a:r>
          </a:p>
          <a:p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25854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454C80-6B40-4CA7-1FE2-EB20E62E2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9AAB6-56CA-045E-2DA0-307AAA728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00B0F0"/>
                </a:solidFill>
              </a:rPr>
              <a:t>Problem Statement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A3FCF0D-BB21-C087-23E7-FC2BE1C6744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713182"/>
            <a:ext cx="11145253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Need for high-speed temporary storage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Traditional DB is heavy for small systems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Redis requires external installation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Need lightweight, Python-based scalable solution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TTL-based automatic expiration required</a:t>
            </a:r>
          </a:p>
        </p:txBody>
      </p:sp>
    </p:spTree>
    <p:extLst>
      <p:ext uri="{BB962C8B-B14F-4D97-AF65-F5344CB8AC3E}">
        <p14:creationId xmlns:p14="http://schemas.microsoft.com/office/powerpoint/2010/main" val="3295644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B8637F-B36A-90E9-4F1C-16B0810CD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98AAE-865E-8478-3E5E-CB900E49C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rgbClr val="00B0F0"/>
                </a:solidFill>
              </a:rPr>
              <a:t>Architecture Diagram</a:t>
            </a:r>
            <a:endParaRPr lang="en-IN" b="1" dirty="0">
              <a:solidFill>
                <a:srgbClr val="00B0F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B2F20-BED7-8D2C-3FD9-7A29191A7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0770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dirty="0">
                <a:solidFill>
                  <a:schemeClr val="bg1"/>
                </a:solidFill>
              </a:rPr>
              <a:t>User (Browser)</a:t>
            </a:r>
          </a:p>
          <a:p>
            <a:pPr marL="0" indent="0">
              <a:buNone/>
            </a:pPr>
            <a:r>
              <a:rPr lang="en-IN" dirty="0">
                <a:solidFill>
                  <a:schemeClr val="bg1"/>
                </a:solidFill>
              </a:rPr>
              <a:t>      ↓</a:t>
            </a:r>
          </a:p>
          <a:p>
            <a:pPr marL="0" indent="0">
              <a:buNone/>
            </a:pPr>
            <a:r>
              <a:rPr lang="en-IN" dirty="0">
                <a:solidFill>
                  <a:schemeClr val="bg1"/>
                </a:solidFill>
              </a:rPr>
              <a:t>Frontend (HTML/CSS/JS)</a:t>
            </a:r>
          </a:p>
          <a:p>
            <a:pPr marL="0" indent="0">
              <a:buNone/>
            </a:pPr>
            <a:r>
              <a:rPr lang="en-IN" dirty="0">
                <a:solidFill>
                  <a:schemeClr val="bg1"/>
                </a:solidFill>
              </a:rPr>
              <a:t>      ↓</a:t>
            </a:r>
          </a:p>
          <a:p>
            <a:pPr marL="0" indent="0">
              <a:buNone/>
            </a:pPr>
            <a:r>
              <a:rPr lang="en-IN" dirty="0">
                <a:solidFill>
                  <a:schemeClr val="bg1"/>
                </a:solidFill>
              </a:rPr>
              <a:t>Flask API Server</a:t>
            </a:r>
          </a:p>
          <a:p>
            <a:pPr marL="0" indent="0">
              <a:buNone/>
            </a:pPr>
            <a:r>
              <a:rPr lang="en-IN" dirty="0">
                <a:solidFill>
                  <a:schemeClr val="bg1"/>
                </a:solidFill>
              </a:rPr>
              <a:t>      ↓</a:t>
            </a:r>
          </a:p>
          <a:p>
            <a:pPr marL="0" indent="0">
              <a:buNone/>
            </a:pPr>
            <a:r>
              <a:rPr lang="en-IN" dirty="0">
                <a:solidFill>
                  <a:schemeClr val="bg1"/>
                </a:solidFill>
              </a:rPr>
              <a:t>In-Memory Store (Dictionary + TTL)</a:t>
            </a:r>
          </a:p>
          <a:p>
            <a:pPr marL="0" indent="0">
              <a:buNone/>
            </a:pPr>
            <a:r>
              <a:rPr lang="en-IN" dirty="0">
                <a:solidFill>
                  <a:schemeClr val="bg1"/>
                </a:solidFill>
              </a:rPr>
              <a:t>      ↓</a:t>
            </a:r>
          </a:p>
          <a:p>
            <a:pPr marL="0" indent="0">
              <a:buNone/>
            </a:pPr>
            <a:r>
              <a:rPr lang="en-IN" dirty="0">
                <a:solidFill>
                  <a:schemeClr val="bg1"/>
                </a:solidFill>
              </a:rPr>
              <a:t>JSON Persistence </a:t>
            </a:r>
          </a:p>
          <a:p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8915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C67AAE-24FC-FD88-8151-2825FB16A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22665-0484-AD97-DD0E-51EE147AA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00B0F0"/>
                </a:solidFill>
              </a:rPr>
              <a:t>Detailed System Components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0270462-1C41-A489-337B-CD48B598863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405404"/>
            <a:ext cx="6954148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Client Layer (Browser / API)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Flask API Layer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In-Memory Store (Dictionary)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TTL Engine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Persistence Layer (JSON)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Background Scheduler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Lock (Thread Safety)</a:t>
            </a:r>
          </a:p>
        </p:txBody>
      </p:sp>
    </p:spTree>
    <p:extLst>
      <p:ext uri="{BB962C8B-B14F-4D97-AF65-F5344CB8AC3E}">
        <p14:creationId xmlns:p14="http://schemas.microsoft.com/office/powerpoint/2010/main" val="1528045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165119-E095-3EB0-63DA-C6B32342A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4A6FD-E2CF-03B2-5E4E-4740BB12B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595" y="365125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rgbClr val="00B0F0"/>
                </a:solidFill>
              </a:rPr>
              <a:t>Technical Concepts Implemented</a:t>
            </a:r>
            <a:endParaRPr lang="en-IN" b="1" dirty="0">
              <a:solidFill>
                <a:srgbClr val="00B0F0"/>
              </a:solidFill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2F78B179-83F2-594B-C0DF-5CC2899EA42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2595" y="1690688"/>
            <a:ext cx="11448775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O(1) Average Time Complexity using Hash Maps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JSON Serialization &amp; Deserialization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Multi-threading &amp; Concurrency Control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RESTful API Design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Background Job Scheduling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Data Persistence Layer Design</a:t>
            </a:r>
          </a:p>
        </p:txBody>
      </p:sp>
    </p:spTree>
    <p:extLst>
      <p:ext uri="{BB962C8B-B14F-4D97-AF65-F5344CB8AC3E}">
        <p14:creationId xmlns:p14="http://schemas.microsoft.com/office/powerpoint/2010/main" val="30466807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3BFDEB-938E-B366-B4A0-C0389B496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E2008-C17E-4534-996B-E275025E0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595" y="365125"/>
            <a:ext cx="10515600" cy="1325563"/>
          </a:xfrm>
        </p:spPr>
        <p:txBody>
          <a:bodyPr/>
          <a:lstStyle/>
          <a:p>
            <a:r>
              <a:rPr lang="en-IN" dirty="0">
                <a:solidFill>
                  <a:srgbClr val="00B0F0"/>
                </a:solidFill>
              </a:rPr>
              <a:t>TTL Working Mechanism</a:t>
            </a:r>
            <a:endParaRPr lang="en-IN" b="1" dirty="0">
              <a:solidFill>
                <a:srgbClr val="00B0F0"/>
              </a:solidFill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19790BA-197C-61FF-8552-26B981112FB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2763" y="1551662"/>
            <a:ext cx="10251845" cy="40626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PUT → store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</a:rPr>
              <a:t>expires_at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</a:rPr>
              <a:t> =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</a:rPr>
              <a:t>current_time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</a:rPr>
              <a:t> +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</a:rPr>
              <a:t>ttl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Background thread runs every 60 sec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If expired → auto delete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TTL return codes: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	-1 → No expiration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	-2 → Key expired/not found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847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FDBC8-6621-189A-ECDB-5435F2D93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495" y="301098"/>
            <a:ext cx="10515600" cy="1325563"/>
          </a:xfrm>
        </p:spPr>
        <p:txBody>
          <a:bodyPr>
            <a:normAutofit/>
          </a:bodyPr>
          <a:lstStyle/>
          <a:p>
            <a:r>
              <a:rPr lang="en-IN" sz="4800" dirty="0">
                <a:solidFill>
                  <a:srgbClr val="00B0F0"/>
                </a:solidFill>
              </a:rPr>
              <a:t>Operational Workflow</a:t>
            </a:r>
            <a:endParaRPr lang="en-IN" sz="4800" b="1" dirty="0">
              <a:solidFill>
                <a:srgbClr val="00B0F0"/>
              </a:solidFill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811B3030-F5E0-4E01-DA18-556D4D95F95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50495" y="1835752"/>
            <a:ext cx="9179116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User sends PUT request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Server validates input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Data stored in dictionary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TTL assigned (if provided)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Data serialized to JSON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Background thread monitors expiration</a:t>
            </a:r>
          </a:p>
        </p:txBody>
      </p:sp>
    </p:spTree>
    <p:extLst>
      <p:ext uri="{BB962C8B-B14F-4D97-AF65-F5344CB8AC3E}">
        <p14:creationId xmlns:p14="http://schemas.microsoft.com/office/powerpoint/2010/main" val="41364605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C200AB-AF35-3775-C4E4-0D91D991D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381A3-45F6-7B97-803D-A7A1A3F15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913" y="218350"/>
            <a:ext cx="10515600" cy="1325563"/>
          </a:xfrm>
        </p:spPr>
        <p:txBody>
          <a:bodyPr>
            <a:normAutofit/>
          </a:bodyPr>
          <a:lstStyle/>
          <a:p>
            <a:r>
              <a:rPr lang="en-IN" sz="4800" b="1" dirty="0">
                <a:solidFill>
                  <a:srgbClr val="00B0F0"/>
                </a:solidFill>
              </a:rPr>
              <a:t>Concurrency and Thread Safety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C73CA4C-4998-A315-339B-3DFEC1A9B28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50913" y="1543913"/>
            <a:ext cx="9490098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Multiple users accessing simultaneously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Used Python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</a:rPr>
              <a:t>threading.Lock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 Unicode MS"/>
              </a:rPr>
              <a:t>()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Prevents race condition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Ensures data consistency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Safe read/write operations</a:t>
            </a:r>
          </a:p>
        </p:txBody>
      </p:sp>
    </p:spTree>
    <p:extLst>
      <p:ext uri="{BB962C8B-B14F-4D97-AF65-F5344CB8AC3E}">
        <p14:creationId xmlns:p14="http://schemas.microsoft.com/office/powerpoint/2010/main" val="42231387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903E5-206F-0096-0EC9-3AB9F3D9B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00B0F0"/>
                </a:solidFill>
              </a:rPr>
              <a:t>Server interface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BACF0FA-5E29-EE48-3AAF-8BFE977017C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1" y="1476117"/>
            <a:ext cx="11190514" cy="50167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Command Loop: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Continuously listens for user input or API requests.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Operation Routing: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Processes commands such as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PUT, GET, and DELETE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and forwards them to the storage engine.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User Feedback: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Provides immediate confirmation and response messages after each operation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08577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3D2C2-8A48-701B-2390-13ACFDA41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00B0F0"/>
                </a:solidFill>
              </a:rPr>
              <a:t>Communication Logic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61302B8-9B2D-81DB-0CF6-B5C105A063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66058" y="1733847"/>
            <a:ext cx="11220782" cy="39395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Frontend: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Handles user interactions (PUT, GET, DELETE, TTL operations).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Backend (Flask):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Processes API requests and manages storage logic.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Communication: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Uses HTTP methods (GET, POST, DELETE) following REST architecture.</a:t>
            </a:r>
          </a:p>
        </p:txBody>
      </p:sp>
    </p:spTree>
    <p:extLst>
      <p:ext uri="{BB962C8B-B14F-4D97-AF65-F5344CB8AC3E}">
        <p14:creationId xmlns:p14="http://schemas.microsoft.com/office/powerpoint/2010/main" val="33638442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66D455-97B1-51D3-2911-E9AD20338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58AB8-753F-1634-0307-07CEE2480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solidFill>
                  <a:srgbClr val="00B0F0"/>
                </a:solidFill>
              </a:rPr>
              <a:t>Real-World Applications</a:t>
            </a:r>
            <a:endParaRPr lang="en-IN" b="1" dirty="0">
              <a:solidFill>
                <a:srgbClr val="00B0F0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6C7535B-FBF3-BA52-C4CA-2B176F1AC3A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437676"/>
            <a:ext cx="8026556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🔐 Session Management System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📱 OTP Verification Storage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⚡ API Response Caching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🗂 Temporary File Storage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🧠 Lightweight Redis Alternative</a:t>
            </a:r>
          </a:p>
        </p:txBody>
      </p:sp>
    </p:spTree>
    <p:extLst>
      <p:ext uri="{BB962C8B-B14F-4D97-AF65-F5344CB8AC3E}">
        <p14:creationId xmlns:p14="http://schemas.microsoft.com/office/powerpoint/2010/main" val="29695279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0B79C3-134A-F55E-40AF-1777CCF86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EFBA6-9AA6-69C7-0488-21B2E19DE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00B0F0"/>
                </a:solidFill>
              </a:rPr>
              <a:t>Limitations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7C7587CD-DEB5-2EBA-5961-FEAA8B1123C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437551"/>
            <a:ext cx="7632032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Single-node architecture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No replication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JSON file growth issue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No distributed scaling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No advanced data types</a:t>
            </a:r>
          </a:p>
        </p:txBody>
      </p:sp>
    </p:spTree>
    <p:extLst>
      <p:ext uri="{BB962C8B-B14F-4D97-AF65-F5344CB8AC3E}">
        <p14:creationId xmlns:p14="http://schemas.microsoft.com/office/powerpoint/2010/main" val="32088765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740F10-7318-6698-8586-26748558B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5423C-184D-26F8-D903-EA865DEC2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00B0F0"/>
                </a:solidFill>
              </a:rPr>
              <a:t>Learning Outcomes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6DB97D6-78F3-39CC-DB41-0F62698134E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6210354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Data Structures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Threading &amp; Concurrency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REST API Design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Backend Architecture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Persistence Design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System Design Principles</a:t>
            </a:r>
          </a:p>
        </p:txBody>
      </p:sp>
    </p:spTree>
    <p:extLst>
      <p:ext uri="{BB962C8B-B14F-4D97-AF65-F5344CB8AC3E}">
        <p14:creationId xmlns:p14="http://schemas.microsoft.com/office/powerpoint/2010/main" val="42342400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99C5E-9E8E-FA35-D6D8-200B35DBD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00B0F0"/>
                </a:solidFill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0D255-D96A-CC53-8D29-47A4BFB9B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 err="1">
                <a:solidFill>
                  <a:schemeClr val="bg1"/>
                </a:solidFill>
              </a:rPr>
              <a:t>PyKV</a:t>
            </a:r>
            <a:r>
              <a:rPr lang="en-US" sz="4000" dirty="0">
                <a:solidFill>
                  <a:schemeClr val="bg1"/>
                </a:solidFill>
              </a:rPr>
              <a:t> successfully combines high-speed in-memory storage with reliable disk persistence and TTL-based expiration.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Its modular architecture, concurrency control, and RESTful interface make it a scalable and efficient solution for modern backend systems.</a:t>
            </a:r>
            <a:endParaRPr lang="en-IN" sz="4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09260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</TotalTime>
  <Words>500</Words>
  <Application>Microsoft Office PowerPoint</Application>
  <PresentationFormat>Widescreen</PresentationFormat>
  <Paragraphs>96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Arial Unicode MS</vt:lpstr>
      <vt:lpstr>Wingdings</vt:lpstr>
      <vt:lpstr>Office Theme</vt:lpstr>
      <vt:lpstr>Pykv : A Scalable Key-Value Memory Store with Persistence</vt:lpstr>
      <vt:lpstr>Overview</vt:lpstr>
      <vt:lpstr>Problem Statement</vt:lpstr>
      <vt:lpstr>Architecture Diagram</vt:lpstr>
      <vt:lpstr>Detailed System Components</vt:lpstr>
      <vt:lpstr>Technical Concepts Implemented</vt:lpstr>
      <vt:lpstr>TTL Working Mechanism</vt:lpstr>
      <vt:lpstr>Operational Workflow</vt:lpstr>
      <vt:lpstr>Concurrency and Thread Safety</vt:lpstr>
      <vt:lpstr>Server interface</vt:lpstr>
      <vt:lpstr>Communication Logic</vt:lpstr>
      <vt:lpstr>Real-World Applications</vt:lpstr>
      <vt:lpstr>Limitations</vt:lpstr>
      <vt:lpstr>Learning Outcomes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Pykv : A Scalable Key-Value Memory Store with Persistence</dc:title>
  <dc:creator>ELCOT</dc:creator>
  <cp:lastModifiedBy>Venkatesh K</cp:lastModifiedBy>
  <cp:revision>7</cp:revision>
  <dcterms:created xsi:type="dcterms:W3CDTF">2026-02-05T21:29:23Z</dcterms:created>
  <dcterms:modified xsi:type="dcterms:W3CDTF">2026-02-16T14:44:50Z</dcterms:modified>
</cp:coreProperties>
</file>