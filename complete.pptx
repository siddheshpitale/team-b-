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68" r:id="rId5"/>
    <p:sldId id="272" r:id="rId6"/>
    <p:sldId id="269" r:id="rId7"/>
    <p:sldId id="273" r:id="rId8"/>
    <p:sldId id="259" r:id="rId9"/>
    <p:sldId id="274" r:id="rId10"/>
    <p:sldId id="260" r:id="rId11"/>
    <p:sldId id="264" r:id="rId12"/>
    <p:sldId id="270" r:id="rId13"/>
    <p:sldId id="276" r:id="rId14"/>
    <p:sldId id="275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70"/>
    <a:srgbClr val="005392"/>
    <a:srgbClr val="2B32B7"/>
    <a:srgbClr val="0F3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M PITALE" userId="6c29955d00154749" providerId="LiveId" clId="{A23DDF19-9A91-4D50-9E21-BC316BBEC3B0}"/>
    <pc:docChg chg="modSld">
      <pc:chgData name="SOHAM PITALE" userId="6c29955d00154749" providerId="LiveId" clId="{A23DDF19-9A91-4D50-9E21-BC316BBEC3B0}" dt="2026-02-17T15:41:02.904" v="4" actId="20577"/>
      <pc:docMkLst>
        <pc:docMk/>
      </pc:docMkLst>
      <pc:sldChg chg="modSp mod">
        <pc:chgData name="SOHAM PITALE" userId="6c29955d00154749" providerId="LiveId" clId="{A23DDF19-9A91-4D50-9E21-BC316BBEC3B0}" dt="2026-02-17T15:41:02.904" v="4" actId="20577"/>
        <pc:sldMkLst>
          <pc:docMk/>
          <pc:sldMk cId="1978066386" sldId="256"/>
        </pc:sldMkLst>
        <pc:spChg chg="mod">
          <ac:chgData name="SOHAM PITALE" userId="6c29955d00154749" providerId="LiveId" clId="{A23DDF19-9A91-4D50-9E21-BC316BBEC3B0}" dt="2026-02-17T15:41:02.904" v="4" actId="20577"/>
          <ac:spMkLst>
            <pc:docMk/>
            <pc:sldMk cId="1978066386" sldId="256"/>
            <ac:spMk id="3" creationId="{16BFE81C-F0E0-4173-F61B-C93ACCE1CDB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2D1B-B4E5-B2C4-FC2B-AAAF76A74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527A8-61F9-5DE6-78E0-0AFF7545D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18108-C8B2-2318-DA49-C3C5C0E0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E02CC-4492-C9AF-6EBE-9CB2AAE31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90558-5275-7021-BC79-80B9F3EA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31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58E2-06A0-E80D-3EB8-8C957B704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6D7B8-CBEA-1BF4-2DD0-00B6AC8C8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F3059-811C-B3FC-8633-35CBE16A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AEE1E-E4E0-FA93-FD20-DE75A5A1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8F253-DC15-5FC7-12B6-30EEC2799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30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0C6D-B635-6F73-4105-32C91C16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BA4B4-ACB7-F341-81FF-4D49543F1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89891-C05F-4874-22B5-DE7CDAF8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130C3-BB33-8463-5731-4CAC401FE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12A87-522B-4BCE-7ABB-021FBF96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23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9551-D806-E112-A304-AFF2F025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3F4B-938F-D4E3-A5BE-1CE7055E9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0EABB-1184-7757-E6A6-157FE4AFB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7E726-6DA0-51E2-290F-80561F04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301F2-8644-0021-D8FC-AE7088BD6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F5B81-FE4B-A4DA-AB8F-78093BDE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00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7FF7-6D14-E3E1-B5D6-9F1D283A5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5F9B6-7AE5-86EC-2073-BA1D54624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20C38-8870-B682-9430-DB9148743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E57A5-886C-3682-6E19-F68AFC3D0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17F62-56EC-FF17-1EAF-71077D99E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3C047-15B1-72BD-E854-5853BE28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33E67-5103-AA97-7AFF-BB373928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9FF06-5C20-B735-41CE-5714BCBFE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01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7A56B-36FF-D5CA-5171-766BFDF6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CF6921-CDA3-0545-FAB1-0CB44400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F12C3-A5F8-6D52-9A70-D22CB20CF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C88E4-2944-F0CF-3EEC-C7AA1DC8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38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7E0458-C4FA-C724-261F-7C5A87BC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1617E2-5F91-B332-97B4-CCDFC9EF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02496-A09C-E8D4-3BF5-930E0567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51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7511-6BB0-493E-5015-3769AD28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10DEF-4130-339F-9153-C178939AE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D2481-A223-F42F-7ABE-FF9E8DE55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E39BD-A088-9F62-07B5-2EEFF7803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5A3A1-A5BA-2B2A-5DDC-B2F6B360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4ECF3-0B5C-FBCA-81CC-A583C6CB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742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45C1-898C-5E24-C893-24E64D7B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C0278-5A92-2CE9-6BCA-0D11EDD9B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2103A-1AC2-592B-9F52-C65C6B53F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529BE-4ADF-A6C5-B3B5-021FF64F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91C65-E708-C45F-1CBD-9D5A21AC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74D2B-EF0E-5FFD-F476-4C37A593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9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3341-1F4B-F348-9C6C-3E755140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207C1-0EA6-E40C-17F6-1BFC29DF3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5641D-A2C5-1814-566E-05B9186BE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9D9DE-FFBE-54B7-0BD4-D0074323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619F-A200-ED83-EE6C-EC80BCBA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89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1B33E7-44A8-B3DD-AD5F-82119ED39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61C1C-8F8C-24C6-FB58-4AF89D0F7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E4AD1-E81A-58BE-689E-7AA0748D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76E0E-0876-DAE8-1F28-6C73AC55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AA13A-8184-57D4-661D-137D8BA6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46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AFB59-6D95-2892-8ABE-7BA5427F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A8582-EA07-FAE2-99E2-60AA7AFF5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A7384-A5FF-9423-8DFF-1B229FE98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3E268-1EBC-4BF6-BA14-69E791BE0A0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C2880-FB9B-1AEF-06C8-620744B98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9E80F-42B7-3DCB-E5C6-662B20D9E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7AE0C-40FD-4346-B466-85AC80C97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31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0">
              <a:srgbClr val="002060"/>
            </a:gs>
            <a:gs pos="100000">
              <a:srgbClr val="00539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B670-8912-D4D1-6AA1-AA0A7DAAB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9204" y="868362"/>
            <a:ext cx="10373591" cy="2387600"/>
          </a:xfrm>
          <a:noFill/>
        </p:spPr>
        <p:txBody>
          <a:bodyPr>
            <a:norm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Pykv</a:t>
            </a:r>
            <a:r>
              <a:rPr lang="en-IN" b="1" dirty="0">
                <a:solidFill>
                  <a:schemeClr val="bg1"/>
                </a:solidFill>
              </a:rPr>
              <a:t> : A Scalable Key-Value Memory Store with Persistence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FE81C-F0E0-4173-F61B-C93ACCE1CD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Team B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by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Venkatesh              </a:t>
            </a:r>
          </a:p>
          <a:p>
            <a:r>
              <a:rPr lang="en-IN" sz="2000" b="1">
                <a:solidFill>
                  <a:schemeClr val="bg1"/>
                </a:solidFill>
              </a:rPr>
              <a:t>Sai Teja</a:t>
            </a:r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Srija </a:t>
            </a:r>
            <a:r>
              <a:rPr lang="en-IN" sz="2000" b="1" dirty="0" err="1">
                <a:solidFill>
                  <a:schemeClr val="bg1"/>
                </a:solidFill>
              </a:rPr>
              <a:t>Budata</a:t>
            </a:r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Harini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Siddhesh </a:t>
            </a:r>
            <a:r>
              <a:rPr lang="en-IN" sz="2000" b="1" dirty="0" err="1">
                <a:solidFill>
                  <a:schemeClr val="bg1"/>
                </a:solidFill>
              </a:rPr>
              <a:t>pitale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066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8A9E-F4EB-BB00-0B4D-ACE45A38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65C96-8FCA-D0EF-C501-3A52B242A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77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Python is a robust python based storage system designed for modern applications requiring high-speed data access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In-Memory Speed: </a:t>
            </a:r>
            <a:r>
              <a:rPr lang="en-IN" dirty="0">
                <a:solidFill>
                  <a:schemeClr val="bg1"/>
                </a:solidFill>
              </a:rPr>
              <a:t>Stores data in RAM for ultra-fast Read/Write operations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Persistence: </a:t>
            </a:r>
            <a:r>
              <a:rPr lang="en-IN" dirty="0">
                <a:solidFill>
                  <a:schemeClr val="bg1"/>
                </a:solidFill>
              </a:rPr>
              <a:t>Automatically saves volatile data to disk to ensures reliability after restarts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Modular Design: </a:t>
            </a:r>
            <a:r>
              <a:rPr lang="en-IN" dirty="0">
                <a:solidFill>
                  <a:schemeClr val="bg1"/>
                </a:solidFill>
              </a:rPr>
              <a:t>Bulit with distinct components for easy maintenance and future scalability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Key-Value Model: </a:t>
            </a:r>
            <a:r>
              <a:rPr lang="en-IN" dirty="0">
                <a:solidFill>
                  <a:schemeClr val="bg1"/>
                </a:solidFill>
              </a:rPr>
              <a:t>Simple and efficient data structure for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O(1)</a:t>
            </a:r>
            <a:r>
              <a:rPr lang="en-IN" dirty="0">
                <a:solidFill>
                  <a:schemeClr val="bg1"/>
                </a:solidFill>
              </a:rPr>
              <a:t> access time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585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54C80-6B40-4CA7-1FE2-EB20E62E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AAB6-56CA-045E-2DA0-307AAA728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3FCF0D-BB21-C087-23E7-FC2BE1C674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13182"/>
            <a:ext cx="1114525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Need for high-speed temporary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Traditional DB is heavy for small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Redis requires external installation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Need lightweight, Python-based scalable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TTL-based automatic expiration required</a:t>
            </a:r>
          </a:p>
        </p:txBody>
      </p:sp>
    </p:spTree>
    <p:extLst>
      <p:ext uri="{BB962C8B-B14F-4D97-AF65-F5344CB8AC3E}">
        <p14:creationId xmlns:p14="http://schemas.microsoft.com/office/powerpoint/2010/main" val="329564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8637F-B36A-90E9-4F1C-16B0810CD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8AAE-865E-8478-3E5E-CB900E49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Architecture Diagram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B2F20-BED7-8D2C-3FD9-7A29191A7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77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User (Browser)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Frontend (HTML/CSS/JS)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Flask API Server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In-Memory Store (Dictionary + TTL)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JSON Persistence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91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67AAE-24FC-FD88-8151-2825FB16A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2665-0484-AD97-DD0E-51EE147A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Detailed System Components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0270462-1C41-A489-337B-CD48B59886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05404"/>
            <a:ext cx="695414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Client Layer (Browser / API)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Flask API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In-Memory Store (Dictionary)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TTL Engine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Persistence Layer (JSON)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Background Scheduler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Lock (Thread Safety)</a:t>
            </a:r>
          </a:p>
        </p:txBody>
      </p:sp>
    </p:spTree>
    <p:extLst>
      <p:ext uri="{BB962C8B-B14F-4D97-AF65-F5344CB8AC3E}">
        <p14:creationId xmlns:p14="http://schemas.microsoft.com/office/powerpoint/2010/main" val="152804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65119-E095-3EB0-63DA-C6B32342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4A6FD-E2CF-03B2-5E4E-4740BB12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95" y="365125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Technical Concepts Implemented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F78B179-83F2-594B-C0DF-5CC2899EA4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2595" y="1690688"/>
            <a:ext cx="1144877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O(1) Average Time Complexity using Hash Maps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JSON Serialization &amp; Deserialization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Multi-threading &amp; Concurrency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RESTful API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Background Job Scheduling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Persistence Layer Design</a:t>
            </a:r>
          </a:p>
        </p:txBody>
      </p:sp>
    </p:spTree>
    <p:extLst>
      <p:ext uri="{BB962C8B-B14F-4D97-AF65-F5344CB8AC3E}">
        <p14:creationId xmlns:p14="http://schemas.microsoft.com/office/powerpoint/2010/main" val="3046680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BFDEB-938E-B366-B4A0-C0389B49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2008-C17E-4534-996B-E275025E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95" y="365125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TTL Working Mechanism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9790BA-197C-61FF-8552-26B981112F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2763" y="1551662"/>
            <a:ext cx="1025184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PUT → store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expires_at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=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current_time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+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ttl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Background thread runs every 60 sec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expired → auto delete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TTL return codes: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	-1 → No expiration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	-2 → Key expired/not found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847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DBC8-6621-189A-ECDB-5435F2D9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301098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00B0F0"/>
                </a:solidFill>
              </a:rPr>
              <a:t>Operational Workflow</a:t>
            </a:r>
            <a:endParaRPr lang="en-IN" sz="4800" b="1" dirty="0">
              <a:solidFill>
                <a:srgbClr val="00B0F0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11B3030-F5E0-4E01-DA18-556D4D95F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0495" y="1835752"/>
            <a:ext cx="917911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 sends PUT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Server validates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stored in dictionary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TTL assigned (if provided)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serialized to JSON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Background thread monitors expiration</a:t>
            </a:r>
          </a:p>
        </p:txBody>
      </p:sp>
    </p:spTree>
    <p:extLst>
      <p:ext uri="{BB962C8B-B14F-4D97-AF65-F5344CB8AC3E}">
        <p14:creationId xmlns:p14="http://schemas.microsoft.com/office/powerpoint/2010/main" val="413646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200AB-AF35-3775-C4E4-0D91D991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81A3-45F6-7B97-803D-A7A1A3F15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13" y="218350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00B0F0"/>
                </a:solidFill>
              </a:rPr>
              <a:t>Concurrency and Thread Safety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C73CA4C-4998-A315-339B-3DFEC1A9B2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0913" y="1543913"/>
            <a:ext cx="949009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Multiple users accessing simultaneously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Used Python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threading.Lock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Prevents race condition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Ensures data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Safe read/write operations</a:t>
            </a:r>
          </a:p>
        </p:txBody>
      </p:sp>
    </p:spTree>
    <p:extLst>
      <p:ext uri="{BB962C8B-B14F-4D97-AF65-F5344CB8AC3E}">
        <p14:creationId xmlns:p14="http://schemas.microsoft.com/office/powerpoint/2010/main" val="4223138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903E5-206F-0096-0EC9-3AB9F3D9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Server interface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ACF0FA-5E29-EE48-3AAF-8BFE97701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476117"/>
            <a:ext cx="1119051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Command Loop: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Continuously listens for user input or API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Operation Routing: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Processes commands such as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PUT, GET, and DELETE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forwards them to the storage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 Feedback: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Provides immediate confirmation and response messages after each operation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857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D2C2-8A48-701B-2390-13ACFDA4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Communication Logic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1302B8-9B2D-81DB-0CF6-B5C105A06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058" y="1733847"/>
            <a:ext cx="11220782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Handles user interactions (PUT, GET, DELETE, TTL operations).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Backend (Flask):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Processes API requests and manages storage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Communication: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Uses HTTP methods (GET, POST, DELETE) following REST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363844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6D455-97B1-51D3-2911-E9AD2033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8AB8-753F-1634-0307-07CEE248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Real-World Applications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C7535B-FBF3-BA52-C4CA-2B176F1AC3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37676"/>
            <a:ext cx="802655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🔐 Session Management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📱 OTP Verification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⚡ API Response Caching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🗂 Temporary File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🧠 Lightweight Redis Alternative</a:t>
            </a:r>
          </a:p>
        </p:txBody>
      </p:sp>
    </p:spTree>
    <p:extLst>
      <p:ext uri="{BB962C8B-B14F-4D97-AF65-F5344CB8AC3E}">
        <p14:creationId xmlns:p14="http://schemas.microsoft.com/office/powerpoint/2010/main" val="2969527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B79C3-134A-F55E-40AF-1777CCF8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FBA6-9AA6-69C7-0488-21B2E19D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Limitations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C7587CD-DEB5-2EBA-5961-FEAA8B1123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37551"/>
            <a:ext cx="763203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Single-node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 replication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JSON file growth issue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 distributed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 advanced data types</a:t>
            </a:r>
          </a:p>
        </p:txBody>
      </p:sp>
    </p:spTree>
    <p:extLst>
      <p:ext uri="{BB962C8B-B14F-4D97-AF65-F5344CB8AC3E}">
        <p14:creationId xmlns:p14="http://schemas.microsoft.com/office/powerpoint/2010/main" val="3208876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40F10-7318-6698-8586-26748558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423C-184D-26F8-D903-EA865DEC2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Learning Outcomes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DB97D6-78F3-39CC-DB41-0F62698134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621035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Structures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Threading &amp; Concurrency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REST API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Backend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Persistence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System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4234240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9C5E-9E8E-FA35-D6D8-200B35DBD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0D255-D96A-CC53-8D29-47A4BFB9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PyKV</a:t>
            </a:r>
            <a:r>
              <a:rPr lang="en-US" sz="4000" dirty="0">
                <a:solidFill>
                  <a:schemeClr val="bg1"/>
                </a:solidFill>
              </a:rPr>
              <a:t> successfully combines high-speed in-memory storage with reliable disk persistence and TTL-based expiration.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Its modular architecture, concurrency control, and RESTful interface make it a scalable and efficient solution for modern backend systems.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926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499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Arial Unicode MS</vt:lpstr>
      <vt:lpstr>Wingdings</vt:lpstr>
      <vt:lpstr>Office Theme</vt:lpstr>
      <vt:lpstr>Pykv : A Scalable Key-Value Memory Store with Persistence</vt:lpstr>
      <vt:lpstr>Overview</vt:lpstr>
      <vt:lpstr>Problem Statement</vt:lpstr>
      <vt:lpstr>Architecture Diagram</vt:lpstr>
      <vt:lpstr>Detailed System Components</vt:lpstr>
      <vt:lpstr>Technical Concepts Implemented</vt:lpstr>
      <vt:lpstr>TTL Working Mechanism</vt:lpstr>
      <vt:lpstr>Operational Workflow</vt:lpstr>
      <vt:lpstr>Concurrency and Thread Safety</vt:lpstr>
      <vt:lpstr>Server interface</vt:lpstr>
      <vt:lpstr>Communication Logic</vt:lpstr>
      <vt:lpstr>Real-World Applications</vt:lpstr>
      <vt:lpstr>Limitations</vt:lpstr>
      <vt:lpstr>Learning Outcomes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Pykv : A Scalable Key-Value Memory Store with Persistence</dc:title>
  <dc:creator>ELCOT</dc:creator>
  <cp:lastModifiedBy>SOHAM PITALE</cp:lastModifiedBy>
  <cp:revision>7</cp:revision>
  <dcterms:created xsi:type="dcterms:W3CDTF">2026-02-05T21:29:23Z</dcterms:created>
  <dcterms:modified xsi:type="dcterms:W3CDTF">2026-02-17T15:41:03Z</dcterms:modified>
</cp:coreProperties>
</file>